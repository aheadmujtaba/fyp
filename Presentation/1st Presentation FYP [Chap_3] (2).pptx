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72" r:id="rId4"/>
    <p:sldId id="258" r:id="rId5"/>
    <p:sldId id="273" r:id="rId6"/>
    <p:sldId id="259" r:id="rId7"/>
    <p:sldId id="260" r:id="rId8"/>
    <p:sldId id="262" r:id="rId9"/>
    <p:sldId id="265" r:id="rId10"/>
    <p:sldId id="266" r:id="rId11"/>
    <p:sldId id="27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8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47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57530"/>
            <a:ext cx="7772400" cy="1470025"/>
          </a:xfrm>
        </p:spPr>
        <p:txBody>
          <a:bodyPr/>
          <a:lstStyle/>
          <a:p>
            <a:r>
              <a:rPr sz="3600" b="1"/>
              <a:t>R</a:t>
            </a:r>
            <a:r>
              <a:rPr sz="3600" b="1">
                <a:latin typeface="Times New Roman" panose="02020603050405020304" charset="0"/>
                <a:cs typeface="Times New Roman" panose="02020603050405020304" charset="0"/>
              </a:rPr>
              <a:t>eal-Time Text Extraction and Translation on Android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720" y="2289175"/>
            <a:ext cx="8289925" cy="3696970"/>
          </a:xfrm>
        </p:spPr>
        <p:txBody>
          <a:bodyPr>
            <a:normAutofit fontScale="32500" lnSpcReduction="20000"/>
          </a:bodyPr>
          <a:lstStyle/>
          <a:p>
            <a:pPr marL="676275" marR="590550" algn="ctr">
              <a:lnSpc>
                <a:spcPct val="100000"/>
              </a:lnSpc>
              <a:spcBef>
                <a:spcPts val="1095"/>
              </a:spcBef>
            </a:pPr>
            <a:r>
              <a:rPr lang="en-US" altLang="en-GB" sz="9600" b="1" spc="-5" dirty="0">
                <a:solidFill>
                  <a:srgbClr val="3A8C6B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Ahmad Mujtaba</a:t>
            </a:r>
            <a:r>
              <a:rPr lang="en-US" altLang="en-GB" sz="9600" spc="-5" dirty="0" err="1">
                <a:solidFill>
                  <a:srgbClr val="3A8C6B"/>
                </a:solidFill>
                <a:sym typeface="+mn-ea"/>
              </a:rPr>
              <a:t> </a:t>
            </a:r>
            <a:r>
              <a:rPr sz="9600" spc="-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(</a:t>
            </a:r>
            <a:r>
              <a:rPr lang="en-US" sz="9600" spc="-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22</a:t>
            </a:r>
            <a:r>
              <a:rPr sz="9600" spc="-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-</a:t>
            </a:r>
            <a:r>
              <a:rPr lang="en-US" sz="9600" spc="-5" dirty="0">
                <a:solidFill>
                  <a:srgbClr val="000000"/>
                </a:solidFill>
                <a:sym typeface="+mn-ea"/>
              </a:rPr>
              <a:t>Arid-470</a:t>
            </a:r>
            <a:r>
              <a:rPr sz="9600" spc="-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)</a:t>
            </a:r>
            <a:endParaRPr lang="en-US" sz="9600" b="0" spc="-5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676275" marR="590550" algn="ctr">
              <a:lnSpc>
                <a:spcPct val="100000"/>
              </a:lnSpc>
              <a:spcBef>
                <a:spcPts val="1095"/>
              </a:spcBef>
            </a:pPr>
            <a:r>
              <a:rPr lang="en-US" altLang="en-GB" sz="9600" b="1" spc="-5" dirty="0">
                <a:solidFill>
                  <a:srgbClr val="3A8C6B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Mansoor Shakir</a:t>
            </a:r>
            <a:r>
              <a:rPr lang="en-US" altLang="en-GB" sz="9600" b="1" spc="-5" dirty="0" err="1">
                <a:solidFill>
                  <a:srgbClr val="3A8C6B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GB" sz="9600" spc="-5" dirty="0">
                <a:solidFill>
                  <a:srgbClr val="000000"/>
                </a:solidFill>
                <a:sym typeface="+mn-ea"/>
              </a:rPr>
              <a:t>(</a:t>
            </a:r>
            <a:r>
              <a:rPr lang="en-US" altLang="en-GB" sz="9600" spc="-5" dirty="0">
                <a:solidFill>
                  <a:srgbClr val="000000"/>
                </a:solidFill>
                <a:sym typeface="+mn-ea"/>
              </a:rPr>
              <a:t>22</a:t>
            </a:r>
            <a:r>
              <a:rPr lang="en-GB" sz="9600" spc="-5" dirty="0">
                <a:solidFill>
                  <a:srgbClr val="000000"/>
                </a:solidFill>
                <a:sym typeface="+mn-ea"/>
              </a:rPr>
              <a:t>-Arid-</a:t>
            </a:r>
            <a:r>
              <a:rPr lang="en-US" altLang="en-GB" sz="9600" spc="-5" dirty="0">
                <a:solidFill>
                  <a:srgbClr val="000000"/>
                </a:solidFill>
                <a:sym typeface="+mn-ea"/>
              </a:rPr>
              <a:t>518</a:t>
            </a:r>
            <a:r>
              <a:rPr lang="en-GB" sz="9600" spc="-5" dirty="0">
                <a:solidFill>
                  <a:srgbClr val="000000"/>
                </a:solidFill>
                <a:sym typeface="+mn-ea"/>
              </a:rPr>
              <a:t>)</a:t>
            </a:r>
          </a:p>
          <a:p>
            <a:pPr marL="676275" marR="590550" algn="ctr">
              <a:lnSpc>
                <a:spcPct val="100000"/>
              </a:lnSpc>
              <a:spcBef>
                <a:spcPts val="1095"/>
              </a:spcBef>
            </a:pPr>
            <a:r>
              <a:rPr lang="en-US" altLang="en-GB" sz="9600" b="1" spc="-5" dirty="0">
                <a:solidFill>
                  <a:srgbClr val="3A8C6B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Zahid Ahmed</a:t>
            </a:r>
            <a:r>
              <a:rPr lang="en-US" altLang="en-GB" sz="9600" spc="-5" dirty="0" err="1">
                <a:solidFill>
                  <a:srgbClr val="3A8C6B"/>
                </a:solidFill>
                <a:sym typeface="+mn-ea"/>
              </a:rPr>
              <a:t> </a:t>
            </a:r>
            <a:r>
              <a:rPr lang="en-GB" sz="9600" spc="-5" dirty="0">
                <a:solidFill>
                  <a:srgbClr val="000000"/>
                </a:solidFill>
                <a:sym typeface="+mn-ea"/>
              </a:rPr>
              <a:t>(</a:t>
            </a:r>
            <a:r>
              <a:rPr lang="en-US" altLang="en-GB" sz="9600" spc="-5" dirty="0">
                <a:solidFill>
                  <a:srgbClr val="000000"/>
                </a:solidFill>
                <a:sym typeface="+mn-ea"/>
              </a:rPr>
              <a:t>22</a:t>
            </a:r>
            <a:r>
              <a:rPr lang="en-GB" sz="9600" spc="-5" dirty="0">
                <a:solidFill>
                  <a:srgbClr val="000000"/>
                </a:solidFill>
                <a:sym typeface="+mn-ea"/>
              </a:rPr>
              <a:t>-Arid-</a:t>
            </a:r>
            <a:r>
              <a:rPr lang="en-US" altLang="en-GB" sz="9600" spc="-5" dirty="0">
                <a:solidFill>
                  <a:srgbClr val="000000"/>
                </a:solidFill>
                <a:sym typeface="+mn-ea"/>
              </a:rPr>
              <a:t>531</a:t>
            </a:r>
            <a:r>
              <a:rPr lang="en-GB" sz="9600" spc="-5" dirty="0">
                <a:solidFill>
                  <a:srgbClr val="000000"/>
                </a:solidFill>
                <a:sym typeface="+mn-ea"/>
              </a:rPr>
              <a:t>)</a:t>
            </a:r>
          </a:p>
          <a:p>
            <a:pPr marL="676275" marR="590550" algn="ctr">
              <a:lnSpc>
                <a:spcPct val="100000"/>
              </a:lnSpc>
              <a:spcBef>
                <a:spcPts val="1095"/>
              </a:spcBef>
            </a:pPr>
            <a:endParaRPr sz="9600" b="0" spc="-5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676275" marR="622300" algn="ctr">
              <a:lnSpc>
                <a:spcPct val="100000"/>
              </a:lnSpc>
              <a:spcBef>
                <a:spcPts val="195"/>
              </a:spcBef>
            </a:pPr>
            <a:r>
              <a:rPr sz="9600" b="1" spc="-5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Supervisor</a:t>
            </a:r>
            <a:r>
              <a:rPr sz="9600" spc="-5" dirty="0">
                <a:solidFill>
                  <a:srgbClr val="000000"/>
                </a:solidFill>
                <a:sym typeface="+mn-ea"/>
              </a:rPr>
              <a:t>: </a:t>
            </a:r>
            <a:r>
              <a:rPr lang="en-US" sz="9600" b="1" spc="-5" dirty="0">
                <a:solidFill>
                  <a:srgbClr val="3A8C6B"/>
                </a:solidFill>
                <a:uFill>
                  <a:solidFill>
                    <a:srgbClr val="006FC0"/>
                  </a:solidFill>
                </a:u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Mr. Usman Kazmi</a:t>
            </a:r>
            <a:endParaRPr sz="9600" b="1" spc="-5" dirty="0">
              <a:solidFill>
                <a:srgbClr val="3A8C6B"/>
              </a:solidFill>
              <a:uFill>
                <a:solidFill>
                  <a:srgbClr val="006FC0"/>
                </a:solidFill>
              </a:uFill>
              <a:latin typeface="Times New Roman" panose="02020603050405020304" charset="0"/>
              <a:cs typeface="Times New Roman" panose="02020603050405020304" charset="0"/>
            </a:endParaRPr>
          </a:p>
          <a:p>
            <a:pPr marL="676275" marR="10160" algn="ctr">
              <a:lnSpc>
                <a:spcPct val="100000"/>
              </a:lnSpc>
              <a:spcBef>
                <a:spcPts val="595"/>
              </a:spcBef>
            </a:pPr>
            <a:r>
              <a:rPr sz="6400" spc="-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Department of Computer</a:t>
            </a:r>
            <a:r>
              <a:rPr sz="6400" spc="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6400" spc="-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Science</a:t>
            </a:r>
            <a:endParaRPr sz="9600" dirty="0">
              <a:latin typeface="Times New Roman" panose="02020603050405020304"/>
              <a:cs typeface="Times New Roman" panose="02020603050405020304"/>
            </a:endParaRPr>
          </a:p>
          <a:p>
            <a:pPr marL="676275" algn="ctr">
              <a:lnSpc>
                <a:spcPct val="100000"/>
              </a:lnSpc>
              <a:spcBef>
                <a:spcPts val="570"/>
              </a:spcBef>
            </a:pPr>
            <a:r>
              <a:rPr lang="en-US" sz="9600" b="1" dirty="0" err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Barani</a:t>
            </a:r>
            <a:r>
              <a:rPr lang="en-US" sz="96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Institute of Management Sciences, Rawalpindi</a:t>
            </a:r>
            <a:endParaRPr sz="9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7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barriers are a common challenge in daily life—especially during travel, education, or reading foreign-language materials.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translation apps often rely on internet access and involve multi-step processes, reducing privacy and usability.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advancements in on-device machine learning, mobile apps can now perform real-time OCR and translation without external servers.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introduces an Android application that extracts and translates text in real time using the device camera.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with Google ML Kit (OCR)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MarianMT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 translation), the app functions completely offline.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UI is developed using Jetpack Compose for responsiveness and includes accessibility features for users with visual or reading impairments.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is designed to be fast, private, and user-friendly, empowering users to understand foreign text instantly.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EB4DB-BEB3-6B38-5C3B-59915446F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55B2908-FC4B-6D37-BA5B-18C40E1AE8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296736"/>
              </p:ext>
            </p:extLst>
          </p:nvPr>
        </p:nvGraphicFramePr>
        <p:xfrm>
          <a:off x="823912" y="1656271"/>
          <a:ext cx="7862888" cy="3933643"/>
        </p:xfrm>
        <a:graphic>
          <a:graphicData uri="http://schemas.openxmlformats.org/drawingml/2006/table">
            <a:tbl>
              <a:tblPr/>
              <a:tblGrid>
                <a:gridCol w="2277940">
                  <a:extLst>
                    <a:ext uri="{9D8B030D-6E8A-4147-A177-3AD203B41FA5}">
                      <a16:colId xmlns:a16="http://schemas.microsoft.com/office/drawing/2014/main" val="4190872053"/>
                    </a:ext>
                  </a:extLst>
                </a:gridCol>
                <a:gridCol w="2997289">
                  <a:extLst>
                    <a:ext uri="{9D8B030D-6E8A-4147-A177-3AD203B41FA5}">
                      <a16:colId xmlns:a16="http://schemas.microsoft.com/office/drawing/2014/main" val="848975834"/>
                    </a:ext>
                  </a:extLst>
                </a:gridCol>
                <a:gridCol w="2587659">
                  <a:extLst>
                    <a:ext uri="{9D8B030D-6E8A-4147-A177-3AD203B41FA5}">
                      <a16:colId xmlns:a16="http://schemas.microsoft.com/office/drawing/2014/main" val="3577517824"/>
                    </a:ext>
                  </a:extLst>
                </a:gridCol>
              </a:tblGrid>
              <a:tr h="473343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Existing System</a:t>
                      </a:r>
                    </a:p>
                  </a:txBody>
                  <a:tcPr marL="76200" marR="76200" marT="19050" marB="19050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76200" marR="76200" marT="19050" marB="1905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</a:rPr>
                        <a:t>Technology</a:t>
                      </a:r>
                    </a:p>
                  </a:txBody>
                  <a:tcPr marL="76200" marR="76200" marT="19050" marB="1905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514975"/>
                  </a:ext>
                </a:extLst>
              </a:tr>
              <a:tr h="865075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Google Translate (Mobile App)</a:t>
                      </a:r>
                    </a:p>
                  </a:txBody>
                  <a:tcPr marL="76200" marR="76200" marT="19050" marB="190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Requires internet for full functionality limited offline support, privacy concerns.</a:t>
                      </a:r>
                    </a:p>
                  </a:txBody>
                  <a:tcPr marL="76200" marR="76200" marT="19050" marB="1905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Cloud-based OCR and NMT APIs</a:t>
                      </a:r>
                    </a:p>
                  </a:txBody>
                  <a:tcPr marL="76200" marR="76200" marT="19050" marB="1905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874800"/>
                  </a:ext>
                </a:extLst>
              </a:tr>
              <a:tr h="865075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iTranslate</a:t>
                      </a:r>
                    </a:p>
                  </a:txBody>
                  <a:tcPr marL="76200" marR="76200" marT="19050" marB="190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Subscription-based offline features, lacks accessibility options</a:t>
                      </a:r>
                    </a:p>
                  </a:txBody>
                  <a:tcPr marL="76200" marR="76200" marT="19050" marB="1905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Cloud OCR + Proprietary MT</a:t>
                      </a:r>
                    </a:p>
                  </a:txBody>
                  <a:tcPr marL="76200" marR="76200" marT="19050" marB="1905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764647"/>
                  </a:ext>
                </a:extLst>
              </a:tr>
              <a:tr h="865075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PaperScan OCR Apps</a:t>
                      </a:r>
                    </a:p>
                  </a:txBody>
                  <a:tcPr marL="76200" marR="76200" marT="19050" marB="190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OCR only, no translation or real-time preview</a:t>
                      </a:r>
                    </a:p>
                  </a:txBody>
                  <a:tcPr marL="76200" marR="76200" marT="19050" marB="1905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Tesseract OCR</a:t>
                      </a:r>
                    </a:p>
                  </a:txBody>
                  <a:tcPr marL="76200" marR="76200" marT="19050" marB="1905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889061"/>
                  </a:ext>
                </a:extLst>
              </a:tr>
              <a:tr h="865075"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Open-Source OCR + Translation</a:t>
                      </a:r>
                    </a:p>
                  </a:txBody>
                  <a:tcPr marL="76200" marR="76200" marT="19050" marB="1905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Requires manual integration; no unified UI, poor user experience</a:t>
                      </a:r>
                    </a:p>
                  </a:txBody>
                  <a:tcPr marL="76200" marR="76200" marT="19050" marB="1905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Tesseract + </a:t>
                      </a:r>
                      <a:r>
                        <a:rPr lang="en-US" sz="12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MarianMT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/ Google APIs</a:t>
                      </a:r>
                    </a:p>
                  </a:txBody>
                  <a:tcPr marL="76200" marR="76200" marT="19050" marB="1905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482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7740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835" y="1417956"/>
            <a:ext cx="8289350" cy="4491138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mobile translation systems, like Google Translate and Microsoft Translator, rely heavily on cloud-based OCR and neural translation models, making them unsuitable for offline use and raising concerns about user privacy [1][2].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apps often involve complex, multi-step interactions capturing, cropping, switching apps which negatively impact usability and speed [3].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Furthermore, current systems provide limited accessibility support for visually impaired users, lacking features like text-to-speech, large text overlays, or simple navigation modes [4].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 research perspective, most studies have explored OCR and translation as separate domains, without fully integrating both capabilities in a single mobile application [5]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Additionally, few open-source or commercial implementations offer on-device translation using lightweight models like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MarianMT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function entirely offline.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CF5F6-1EEC-9BDE-9594-FBE38B3D1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60C33-367A-B760-EEBD-745A9875F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translation apps like Google Translate and Microsoft Translator offer OCR + translation but rely heavily on cloud services, limiting offline usability and raising privacy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concerns [1][2].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in Optical Character Recognition (OCR) using Google ML Kit shows high accuracy and low latency in mobile environments, especially for printed text [3].</a:t>
            </a:r>
          </a:p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MarianMT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developed by Microsoft, is an open-source neural machine translation (NMT) model with competitive performance, suitable for on-device deployment when optimized using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TFLite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[4].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prior studies focus on either OCR or translation independently, and do not address a unified, real-time mobile solution that works completely offline [5].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in translation apps is often neglected, with limited support for visually impaired or cognitively challenged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users [4].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99027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6072"/>
            <a:ext cx="8229600" cy="4961596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Android application that performs real-time text extraction and translation directly on the device.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Google ML Kit for on-device Optical Character Recognition (OCR) to detect printed text from live camera input.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MarianMT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translation model (converted to ONNX or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TFLite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provide offline multilingual translation.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the user interface using Jetpack Compose for a smooth, modern, and reactive experience.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CameraX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handle live camera feed and provide input for OCR processing.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offline functionality, so users can use the app without internet access—preserving privacy and improving speed.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accessibility features, such as large text overlays and support for future text-to-speech (TTS), to benefit visually impaired 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 a fast, private, and user-friendly translation tool tailored for everyday scenarios like travel, education, and accessibility.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993515" y="5688275"/>
            <a:ext cx="1422400" cy="101409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3064510" y="5700976"/>
            <a:ext cx="1163320" cy="988695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4"/>
          <a:stretch>
            <a:fillRect/>
          </a:stretch>
        </p:blipFill>
        <p:spPr>
          <a:xfrm>
            <a:off x="5067300" y="5600700"/>
            <a:ext cx="3619500" cy="12573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0735"/>
            <a:ext cx="8229600" cy="1143000"/>
          </a:xfrm>
        </p:spPr>
        <p:txBody>
          <a:bodyPr/>
          <a:lstStyle/>
          <a:p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Tools &amp; Technologies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4D79AE0-B7DF-0F28-3C47-B3C8F3B8B6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7127077"/>
              </p:ext>
            </p:extLst>
          </p:nvPr>
        </p:nvGraphicFramePr>
        <p:xfrm>
          <a:off x="932815" y="1363835"/>
          <a:ext cx="7434808" cy="4236864"/>
        </p:xfrm>
        <a:graphic>
          <a:graphicData uri="http://schemas.openxmlformats.org/drawingml/2006/table">
            <a:tbl>
              <a:tblPr/>
              <a:tblGrid>
                <a:gridCol w="4003358">
                  <a:extLst>
                    <a:ext uri="{9D8B030D-6E8A-4147-A177-3AD203B41FA5}">
                      <a16:colId xmlns:a16="http://schemas.microsoft.com/office/drawing/2014/main" val="2600042620"/>
                    </a:ext>
                  </a:extLst>
                </a:gridCol>
                <a:gridCol w="3431450">
                  <a:extLst>
                    <a:ext uri="{9D8B030D-6E8A-4147-A177-3AD203B41FA5}">
                      <a16:colId xmlns:a16="http://schemas.microsoft.com/office/drawing/2014/main" val="3568089401"/>
                    </a:ext>
                  </a:extLst>
                </a:gridCol>
              </a:tblGrid>
              <a:tr h="28003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marL="67856" marR="67856" marT="16964" marB="16964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 / Tool</a:t>
                      </a:r>
                    </a:p>
                  </a:txBody>
                  <a:tcPr marL="67856" marR="67856" marT="16964" marB="169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188924"/>
                  </a:ext>
                </a:extLst>
              </a:tr>
              <a:tr h="280038">
                <a:tc>
                  <a:txBody>
                    <a:bodyPr/>
                    <a:lstStyle/>
                    <a:p>
                      <a:pPr rtl="0" fontAlgn="ctr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 Language</a:t>
                      </a:r>
                    </a:p>
                  </a:txBody>
                  <a:tcPr marL="67856" marR="67856" marT="16964" marB="16964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Kotlin</a:t>
                      </a:r>
                    </a:p>
                  </a:txBody>
                  <a:tcPr marL="67856" marR="67856" marT="16964" marB="169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450525"/>
                  </a:ext>
                </a:extLst>
              </a:tr>
              <a:tr h="280038">
                <a:tc>
                  <a:txBody>
                    <a:bodyPr/>
                    <a:lstStyle/>
                    <a:p>
                      <a:pPr rtl="0" fontAlgn="ctr"/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 Framework</a:t>
                      </a:r>
                    </a:p>
                  </a:txBody>
                  <a:tcPr marL="67856" marR="67856" marT="16964" marB="16964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Jetpack Compose</a:t>
                      </a:r>
                    </a:p>
                  </a:txBody>
                  <a:tcPr marL="67856" marR="67856" marT="16964" marB="169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184113"/>
                  </a:ext>
                </a:extLst>
              </a:tr>
              <a:tr h="280038">
                <a:tc>
                  <a:txBody>
                    <a:bodyPr/>
                    <a:lstStyle/>
                    <a:p>
                      <a:pPr rtl="0" fontAlgn="ctr"/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Camera Integration</a:t>
                      </a:r>
                    </a:p>
                  </a:txBody>
                  <a:tcPr marL="67856" marR="67856" marT="16964" marB="16964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CameraX</a:t>
                      </a:r>
                    </a:p>
                  </a:txBody>
                  <a:tcPr marL="67856" marR="67856" marT="16964" marB="169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875680"/>
                  </a:ext>
                </a:extLst>
              </a:tr>
              <a:tr h="472779">
                <a:tc>
                  <a:txBody>
                    <a:bodyPr/>
                    <a:lstStyle/>
                    <a:p>
                      <a:pPr rtl="0" fontAlgn="ctr"/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Recognition (OCR)</a:t>
                      </a:r>
                    </a:p>
                  </a:txBody>
                  <a:tcPr marL="67856" marR="67856" marT="16964" marB="16964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ML Kit (On-Device)</a:t>
                      </a:r>
                    </a:p>
                  </a:txBody>
                  <a:tcPr marL="67856" marR="67856" marT="16964" marB="169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258823"/>
                  </a:ext>
                </a:extLst>
              </a:tr>
              <a:tr h="472779">
                <a:tc>
                  <a:txBody>
                    <a:bodyPr/>
                    <a:lstStyle/>
                    <a:p>
                      <a:pPr rtl="0" fontAlgn="ctr"/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Translation Engine</a:t>
                      </a:r>
                    </a:p>
                  </a:txBody>
                  <a:tcPr marL="67856" marR="67856" marT="16964" marB="16964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MarianMT (ONNX / TFLite)</a:t>
                      </a:r>
                    </a:p>
                  </a:txBody>
                  <a:tcPr marL="67856" marR="67856" marT="16964" marB="169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0257868"/>
                  </a:ext>
                </a:extLst>
              </a:tr>
              <a:tr h="472779">
                <a:tc>
                  <a:txBody>
                    <a:bodyPr/>
                    <a:lstStyle/>
                    <a:p>
                      <a:pPr rtl="0" fontAlgn="ctr"/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Architecture Pattern</a:t>
                      </a:r>
                    </a:p>
                  </a:txBody>
                  <a:tcPr marL="67856" marR="67856" marT="16964" marB="16964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MVVM (Model-View-ViewModel)</a:t>
                      </a:r>
                    </a:p>
                  </a:txBody>
                  <a:tcPr marL="67856" marR="67856" marT="16964" marB="169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453238"/>
                  </a:ext>
                </a:extLst>
              </a:tr>
              <a:tr h="472779">
                <a:tc>
                  <a:txBody>
                    <a:bodyPr/>
                    <a:lstStyle/>
                    <a:p>
                      <a:pPr rtl="0" fontAlgn="ctr"/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 Management</a:t>
                      </a:r>
                    </a:p>
                  </a:txBody>
                  <a:tcPr marL="67856" marR="67856" marT="16964" marB="16964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ViewModel + StateFlow</a:t>
                      </a:r>
                    </a:p>
                  </a:txBody>
                  <a:tcPr marL="67856" marR="67856" marT="16964" marB="169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877840"/>
                  </a:ext>
                </a:extLst>
              </a:tr>
              <a:tr h="472779">
                <a:tc>
                  <a:txBody>
                    <a:bodyPr/>
                    <a:lstStyle/>
                    <a:p>
                      <a:pPr rtl="0" fontAlgn="ctr"/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Environment</a:t>
                      </a:r>
                    </a:p>
                  </a:txBody>
                  <a:tcPr marL="67856" marR="67856" marT="16964" marB="16964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 Studio</a:t>
                      </a:r>
                    </a:p>
                  </a:txBody>
                  <a:tcPr marL="67856" marR="67856" marT="16964" marB="169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444860"/>
                  </a:ext>
                </a:extLst>
              </a:tr>
              <a:tr h="280038">
                <a:tc>
                  <a:txBody>
                    <a:bodyPr/>
                    <a:lstStyle/>
                    <a:p>
                      <a:pPr rtl="0" fontAlgn="ctr"/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 Tool</a:t>
                      </a:r>
                    </a:p>
                  </a:txBody>
                  <a:tcPr marL="67856" marR="67856" marT="16964" marB="16964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Gradle</a:t>
                      </a:r>
                    </a:p>
                  </a:txBody>
                  <a:tcPr marL="67856" marR="67856" marT="16964" marB="169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117931"/>
                  </a:ext>
                </a:extLst>
              </a:tr>
              <a:tr h="472779">
                <a:tc>
                  <a:txBody>
                    <a:bodyPr/>
                    <a:lstStyle/>
                    <a:p>
                      <a:pPr rtl="0" fontAlgn="ctr"/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Storage (Optional)</a:t>
                      </a:r>
                    </a:p>
                  </a:txBody>
                  <a:tcPr marL="67856" marR="67856" marT="16964" marB="16964" anchor="ctr">
                    <a:lnL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Room Database / MMKV</a:t>
                      </a:r>
                    </a:p>
                  </a:txBody>
                  <a:tcPr marL="67856" marR="67856" marT="16964" marB="169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4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302259"/>
                  </a:ext>
                </a:extLst>
              </a:tr>
            </a:tbl>
          </a:graphicData>
        </a:graphic>
      </p:graphicFrame>
      <p:pic>
        <p:nvPicPr>
          <p:cNvPr id="4" name="Picture 3"/>
          <p:cNvPicPr/>
          <p:nvPr/>
        </p:nvPicPr>
        <p:blipFill>
          <a:blip r:embed="rId5"/>
          <a:stretch>
            <a:fillRect/>
          </a:stretch>
        </p:blipFill>
        <p:spPr>
          <a:xfrm>
            <a:off x="932815" y="5900420"/>
            <a:ext cx="2131695" cy="7181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Significance &amp;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>
                <a:latin typeface="Times New Roman" panose="02020603050405020304" charset="0"/>
                <a:cs typeface="Times New Roman" panose="02020603050405020304" charset="0"/>
              </a:rPr>
              <a:t>Accessibility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: Assisting visually impaired users.</a:t>
            </a:r>
          </a:p>
          <a:p>
            <a:r>
              <a:rPr b="1">
                <a:latin typeface="Times New Roman" panose="02020603050405020304" charset="0"/>
                <a:cs typeface="Times New Roman" panose="02020603050405020304" charset="0"/>
              </a:rPr>
              <a:t>Tourism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: Helping travelers read signs and menus.</a:t>
            </a:r>
          </a:p>
          <a:p>
            <a:r>
              <a:rPr b="1">
                <a:latin typeface="Times New Roman" panose="02020603050405020304" charset="0"/>
                <a:cs typeface="Times New Roman" panose="02020603050405020304" charset="0"/>
              </a:rPr>
              <a:t>Education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: Translating books, notes, and academic content.</a:t>
            </a:r>
          </a:p>
          <a:p>
            <a:r>
              <a:rPr b="1">
                <a:latin typeface="Times New Roman" panose="02020603050405020304" charset="0"/>
                <a:cs typeface="Times New Roman" panose="02020603050405020304" charset="0"/>
              </a:rPr>
              <a:t>Business &amp; Communication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:  Enabling quick document translation.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Feature Comparison of OCR Systems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01CDDC9-B9DF-E9C9-71E1-FAFF5C272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169963"/>
              </p:ext>
            </p:extLst>
          </p:nvPr>
        </p:nvGraphicFramePr>
        <p:xfrm>
          <a:off x="905774" y="1682151"/>
          <a:ext cx="7487728" cy="2678600"/>
        </p:xfrm>
        <a:graphic>
          <a:graphicData uri="http://schemas.openxmlformats.org/drawingml/2006/table">
            <a:tbl>
              <a:tblPr/>
              <a:tblGrid>
                <a:gridCol w="1373325">
                  <a:extLst>
                    <a:ext uri="{9D8B030D-6E8A-4147-A177-3AD203B41FA5}">
                      <a16:colId xmlns:a16="http://schemas.microsoft.com/office/drawing/2014/main" val="3560040674"/>
                    </a:ext>
                  </a:extLst>
                </a:gridCol>
                <a:gridCol w="1352621">
                  <a:extLst>
                    <a:ext uri="{9D8B030D-6E8A-4147-A177-3AD203B41FA5}">
                      <a16:colId xmlns:a16="http://schemas.microsoft.com/office/drawing/2014/main" val="2371096194"/>
                    </a:ext>
                  </a:extLst>
                </a:gridCol>
                <a:gridCol w="1380227">
                  <a:extLst>
                    <a:ext uri="{9D8B030D-6E8A-4147-A177-3AD203B41FA5}">
                      <a16:colId xmlns:a16="http://schemas.microsoft.com/office/drawing/2014/main" val="1138820827"/>
                    </a:ext>
                  </a:extLst>
                </a:gridCol>
                <a:gridCol w="1739085">
                  <a:extLst>
                    <a:ext uri="{9D8B030D-6E8A-4147-A177-3AD203B41FA5}">
                      <a16:colId xmlns:a16="http://schemas.microsoft.com/office/drawing/2014/main" val="2672233604"/>
                    </a:ext>
                  </a:extLst>
                </a:gridCol>
                <a:gridCol w="1642470">
                  <a:extLst>
                    <a:ext uri="{9D8B030D-6E8A-4147-A177-3AD203B41FA5}">
                      <a16:colId xmlns:a16="http://schemas.microsoft.com/office/drawing/2014/main" val="4176006268"/>
                    </a:ext>
                  </a:extLst>
                </a:gridCol>
              </a:tblGrid>
              <a:tr h="669650">
                <a:tc>
                  <a:txBody>
                    <a:bodyPr/>
                    <a:lstStyle/>
                    <a:p>
                      <a:pPr rtl="0" fontAlgn="t"/>
                      <a:r>
                        <a:rPr lang="en-US" sz="16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OCR System</a:t>
                      </a:r>
                    </a:p>
                  </a:txBody>
                  <a:tcPr marL="60679" marR="60679" marT="15170" marB="151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6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(%)</a:t>
                      </a:r>
                    </a:p>
                  </a:txBody>
                  <a:tcPr marL="60679" marR="60679" marT="15170" marB="1517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6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Offline Support</a:t>
                      </a:r>
                    </a:p>
                  </a:txBody>
                  <a:tcPr marL="60679" marR="60679" marT="15170" marB="1517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6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Handwriting Support</a:t>
                      </a:r>
                    </a:p>
                  </a:txBody>
                  <a:tcPr marL="60679" marR="60679" marT="15170" marB="1517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Translation Support</a:t>
                      </a:r>
                    </a:p>
                  </a:txBody>
                  <a:tcPr marL="60679" marR="60679" marT="15170" marB="1517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8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710852"/>
                  </a:ext>
                </a:extLst>
              </a:tr>
              <a:tr h="669650">
                <a:tc>
                  <a:txBody>
                    <a:bodyPr/>
                    <a:lstStyle/>
                    <a:p>
                      <a:pPr rtl="0" fontAlgn="t"/>
                      <a:r>
                        <a:rPr lang="en-US" sz="1600" b="0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ML Kit</a:t>
                      </a:r>
                    </a:p>
                  </a:txBody>
                  <a:tcPr marL="60679" marR="60679" marT="15170" marB="151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en-US" sz="1600" b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95%</a:t>
                      </a:r>
                    </a:p>
                  </a:txBody>
                  <a:tcPr marL="60679" marR="60679" marT="15170" marB="151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600" b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0679" marR="60679" marT="15170" marB="151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600" b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</a:t>
                      </a:r>
                    </a:p>
                  </a:txBody>
                  <a:tcPr marL="60679" marR="60679" marT="15170" marB="151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600" b="0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</a:t>
                      </a:r>
                    </a:p>
                  </a:txBody>
                  <a:tcPr marL="60679" marR="60679" marT="15170" marB="151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69953"/>
                  </a:ext>
                </a:extLst>
              </a:tr>
              <a:tr h="669650">
                <a:tc>
                  <a:txBody>
                    <a:bodyPr/>
                    <a:lstStyle/>
                    <a:p>
                      <a:pPr rtl="0" fontAlgn="t"/>
                      <a:r>
                        <a:rPr lang="en-US" sz="1600" b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Tesseract OCR</a:t>
                      </a:r>
                    </a:p>
                  </a:txBody>
                  <a:tcPr marL="60679" marR="60679" marT="15170" marB="151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en-US" sz="1600" b="0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87%</a:t>
                      </a:r>
                    </a:p>
                  </a:txBody>
                  <a:tcPr marL="60679" marR="60679" marT="15170" marB="151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600" b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0679" marR="60679" marT="15170" marB="151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600" b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0679" marR="60679" marT="15170" marB="151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600" b="0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0679" marR="60679" marT="15170" marB="151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7720774"/>
                  </a:ext>
                </a:extLst>
              </a:tr>
              <a:tr h="669650">
                <a:tc>
                  <a:txBody>
                    <a:bodyPr/>
                    <a:lstStyle/>
                    <a:p>
                      <a:pPr rtl="0" fontAlgn="t"/>
                      <a:r>
                        <a:rPr lang="en-US" sz="1600" b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Firebase ML</a:t>
                      </a:r>
                    </a:p>
                  </a:txBody>
                  <a:tcPr marL="60679" marR="60679" marT="15170" marB="151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en-US" sz="1600" b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90%</a:t>
                      </a:r>
                    </a:p>
                  </a:txBody>
                  <a:tcPr marL="60679" marR="60679" marT="15170" marB="151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600" b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0679" marR="60679" marT="15170" marB="151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600" b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0679" marR="60679" marT="15170" marB="151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600" b="0" dirty="0">
                          <a:solidFill>
                            <a:sysClr val="windowText" lastClr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</a:t>
                      </a:r>
                    </a:p>
                  </a:txBody>
                  <a:tcPr marL="60679" marR="60679" marT="15170" marB="151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90798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Significance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b="1">
                <a:latin typeface="Times New Roman" panose="02020603050405020304" charset="0"/>
                <a:cs typeface="Times New Roman" panose="02020603050405020304" charset="0"/>
              </a:rPr>
              <a:t>Bridging Language Barriers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:  Helps users instantly translate text from various languages, making communication seamless.</a:t>
            </a:r>
          </a:p>
          <a:p>
            <a:r>
              <a:rPr b="1">
                <a:latin typeface="Times New Roman" panose="02020603050405020304" charset="0"/>
                <a:cs typeface="Times New Roman" panose="02020603050405020304" charset="0"/>
              </a:rPr>
              <a:t>Offline Accessibility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:  Unlike Google Translate, our app can work without the internet, making it ideal for travelers and remote areas.</a:t>
            </a:r>
          </a:p>
          <a:p>
            <a:r>
              <a:rPr b="1">
                <a:latin typeface="Times New Roman" panose="02020603050405020304" charset="0"/>
                <a:cs typeface="Times New Roman" panose="02020603050405020304" charset="0"/>
              </a:rPr>
              <a:t>Business &amp; Documentation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:  Enables instant translation of official documents, emails, and business content.</a:t>
            </a:r>
          </a:p>
          <a:p>
            <a:r>
              <a:rPr b="1">
                <a:latin typeface="Times New Roman" panose="02020603050405020304" charset="0"/>
                <a:cs typeface="Times New Roman" panose="02020603050405020304" charset="0"/>
              </a:rPr>
              <a:t>Education &amp; Research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:  Assists students in understanding foreign language textbooks and research papers.</a:t>
            </a:r>
          </a:p>
          <a:p>
            <a:r>
              <a:rPr b="1">
                <a:latin typeface="Times New Roman" panose="02020603050405020304" charset="0"/>
                <a:cs typeface="Times New Roman" panose="02020603050405020304" charset="0"/>
              </a:rPr>
              <a:t>Accessibility for the Visually Impaired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:  Integrates OCR with text-to-speech to help visually impaired individuals.</a:t>
            </a:r>
          </a:p>
          <a:p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Wu et al.,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Google’s Neural Machine Translation System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arXiv:1609.08144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Almeida &amp; Mota,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 of Google Translate Instant Camera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Procedia Computer Science, 2020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Wu et al.,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On-device Translation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Journal of Mobile Computing, 2022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 et al.,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Evaluation of Mobile Translation Apps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ACM SIGACCESS, 2019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Tiedemann &amp;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Thottingal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OPUS-MT: Open Translation Services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EAMT 2020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1004</Words>
  <Application>Microsoft Office PowerPoint</Application>
  <PresentationFormat>On-screen Show (4:3)</PresentationFormat>
  <Paragraphs>114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Real-Time Text Extraction and Translation on Android</vt:lpstr>
      <vt:lpstr>Introduction</vt:lpstr>
      <vt:lpstr>Existing Systems</vt:lpstr>
      <vt:lpstr>Problem Statement</vt:lpstr>
      <vt:lpstr>Literature Review</vt:lpstr>
      <vt:lpstr>Proposed Solution</vt:lpstr>
      <vt:lpstr>Tools &amp; Technologies</vt:lpstr>
      <vt:lpstr>Significance &amp; Applications</vt:lpstr>
      <vt:lpstr>Feature Comparison of OCR Systems</vt:lpstr>
      <vt:lpstr>Significance of the Project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Ahmad;Mansoor;Zahid</dc:creator>
  <dc:description>generated using python-pptx</dc:description>
  <cp:lastModifiedBy>Ahmad Mujtaba</cp:lastModifiedBy>
  <cp:revision>10</cp:revision>
  <dcterms:created xsi:type="dcterms:W3CDTF">2013-01-27T09:14:00Z</dcterms:created>
  <dcterms:modified xsi:type="dcterms:W3CDTF">2025-05-19T05:15:18Z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FE30357215EE4AEDA916C33D5812258A_13</vt:lpwstr>
  </property>
  <property fmtid="{D5CDD505-2E9C-101B-9397-08002B2CF9AE}" pid="3" name="KSOProductBuildVer">
    <vt:lpwstr>1033-12.2.0.20326</vt:lpwstr>
  </property>
</Properties>
</file>